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everyone. My name is Davis Fernandez and I am an independent IT technician. Thank you for the warm welcome. Today I am going to present my welcome kit for a new colleague from another country. I will talk about four things: who I am and my routine, how to get to my office in David, the places to eat near my office, and the safety rules I use when I visit clients all over Chiriqui. It will take about five minutes, and at the end you can ask me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start with me. My name is Davis Fernandez and I am an independent IT technician. I am friendly and organized, and I am a little shy, so please be patient with me at the beginning. I do not work in one office all day: I visit clients all over Chiriqui province, and my base is in David. My schedule is from eight in the morning to five in the afternoon, Monday to Friday. This week I am setting up a new network and I am visiting clients in Bugaba and Boquete. My daily routine is like this. At eight o'clock I check my messages and I plan the visits. Then, from ten to four, I visit clients and I fix their equipment. At four thirty I update the tickets and I plan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Now, how to get to my workplace. My base is in La Riviera, on Calle five, but I do not stay there all day: my main client is Restaurante PikTa, on Calle Aristides Romero, and I also visit clients in Bugaba, Boquete and Volcan. On the map, the orange line is the route from my base to PikTa. First, I leave my base and I go east on Calle five. Then, I turn left on Calle four. After that, I go north to Calle Aristides Romero. Finally, I turn right, and PikTa is there, near Ozaga Market. It takes about five minutes by car. When I work in the restaurant, I park on the street behind the building. My advice is to leave early, because the traffic is heavy at eight in the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last slide is about the office and about safety. There are a lot of places to eat near my office. The bakery on the corner is cheap: coffee, bread and fruit for about two dollars. The market is also good: a typical lunch is rice with chicken, beans and plantain for about five dollars. Some places are expensive and many people eat at the market, but I do not have much time, so I usually eat near the office. And this was my week: yesterday I finished work and I went to dinner with my family. Tomorrow I will have a long day: I will visit three clients in David, Bugaba and Boquete, so I will leave home very early. Now, safety. The emergency number is 911. I have the first-aid kit in my car, in a red box, and I have the key. If someone is bleeding, apply pressure and call 911. Finally, three simple rules: check the car before a long trip, share your route with your family, and back up your data before every visit. Thank you very much. Do you have any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5575" y="-1417320"/>
            <a:ext cx="5120640" cy="5120640"/>
          </a:xfrm>
          <a:prstGeom prst="ellipse">
            <a:avLst/>
          </a:prstGeom>
          <a:solidFill>
            <a:srgbClr val="17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00055" y="5257800"/>
            <a:ext cx="2926080" cy="292608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51560" y="5440680"/>
            <a:ext cx="2651760" cy="2651760"/>
          </a:xfrm>
          <a:prstGeom prst="ellipse">
            <a:avLst/>
          </a:prstGeom>
          <a:solidFill>
            <a:srgbClr val="173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57416"/>
            <a:ext cx="12191695" cy="100584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2A63B"/>
                </a:solidFill>
                <a:latin typeface="Segoe UI"/>
              </a:rPr>
              <a:t>NEW TEAM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300" b="1" i="0">
                <a:solidFill>
                  <a:srgbClr val="FFFFFF"/>
                </a:solidFill>
                <a:latin typeface="Segoe UI"/>
              </a:rPr>
              <a:t>Welcome to
the Team!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11880"/>
            <a:ext cx="960120" cy="54864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6400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Davis Fernández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2A63B"/>
                </a:solidFill>
                <a:latin typeface="Segoe UI"/>
              </a:rPr>
              <a:t>Independent IT Technician  ·  Chiriquí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B8C6D4"/>
                </a:solidFill>
                <a:latin typeface="Segoe UI"/>
              </a:rPr>
              <a:t>Welcome Kit  ·  David, Chiriquí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A63B"/>
                </a:solidFill>
                <a:latin typeface="Segoe UI"/>
              </a:rP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E273F"/>
                </a:solidFill>
                <a:latin typeface="Segoe UI"/>
              </a:rPr>
              <a:t>This is me, my work and my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822960" cy="50292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267712"/>
            <a:ext cx="475488" cy="475488"/>
          </a:xfrm>
          <a:prstGeom prst="ellipse">
            <a:avLst/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2677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889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273F"/>
                </a:solidFill>
                <a:latin typeface="Segoe UI"/>
              </a:rPr>
              <a:t>Who I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2004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55697C"/>
                </a:solidFill>
                <a:latin typeface="Segoe UI"/>
              </a:rPr>
              <a:t>Friendly, organized and a little shy. I like solving problems and helping people.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2057400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94760" y="2267712"/>
            <a:ext cx="475488" cy="475488"/>
          </a:xfrm>
          <a:prstGeom prst="ellipse">
            <a:avLst/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2677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89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273F"/>
                </a:solidFill>
                <a:latin typeface="Segoe UI"/>
              </a:rPr>
              <a:t>Where I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2004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55697C"/>
                </a:solidFill>
                <a:latin typeface="Segoe UI"/>
              </a:rPr>
              <a:t>Independent IT technician. I visit clients all over Chiriquí; my main client is PikTa.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057400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56248" y="2267712"/>
            <a:ext cx="475488" cy="475488"/>
          </a:xfrm>
          <a:prstGeom prst="ellipse">
            <a:avLst/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2677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889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273F"/>
                </a:solidFill>
                <a:latin typeface="Segoe UI"/>
              </a:rPr>
              <a:t>My 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2004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55697C"/>
                </a:solidFill>
                <a:latin typeface="Segoe UI"/>
              </a:rPr>
              <a:t>I start at 8:00 a.m. and finish at 5:00 p.m., from Monday to Friday.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2057400"/>
            <a:ext cx="2578608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17736" y="2267712"/>
            <a:ext cx="475488" cy="475488"/>
          </a:xfrm>
          <a:prstGeom prst="ellipse">
            <a:avLst/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26771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889504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0E273F"/>
                </a:solidFill>
                <a:latin typeface="Segoe UI"/>
              </a:rPr>
              <a:t>This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20040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55697C"/>
                </a:solidFill>
                <a:latin typeface="Segoe UI"/>
              </a:rPr>
              <a:t>This week I am setting up a network and visiting clients in Bugaba and Boquete.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70832"/>
            <a:ext cx="10637215" cy="1536192"/>
          </a:xfrm>
          <a:prstGeom prst="roundRect">
            <a:avLst>
              <a:gd name="adj" fmla="val 3500"/>
            </a:avLst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45720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A63B"/>
                </a:solidFill>
                <a:latin typeface="Segoe UI"/>
              </a:rPr>
              <a:t>DAILY ROUTINE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48463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8:00 a.m.  →  5:00 p.m.</a:t>
            </a:r>
          </a:p>
        </p:txBody>
      </p:sp>
      <p:sp>
        <p:nvSpPr>
          <p:cNvPr id="29" name="Oval 28"/>
          <p:cNvSpPr/>
          <p:nvPr/>
        </p:nvSpPr>
        <p:spPr>
          <a:xfrm>
            <a:off x="4224528" y="4636008"/>
            <a:ext cx="182880" cy="18288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45537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2A63B"/>
                </a:solidFill>
                <a:latin typeface="Segoe UI"/>
              </a:rPr>
              <a:t>8:00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4873752"/>
            <a:ext cx="1965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D3DEE8"/>
                </a:solidFill>
                <a:latin typeface="Segoe UI"/>
              </a:rPr>
              <a:t>Check messages and
plan the visits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4768" y="4700016"/>
            <a:ext cx="365760" cy="18288"/>
          </a:xfrm>
          <a:prstGeom prst="rect">
            <a:avLst/>
          </a:prstGeom>
          <a:solidFill>
            <a:srgbClr val="3C5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0256" y="4636008"/>
            <a:ext cx="182880" cy="18288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45537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2A63B"/>
                </a:solidFill>
                <a:latin typeface="Segoe UI"/>
              </a:rPr>
              <a:t>10:00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4873752"/>
            <a:ext cx="1965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D3DEE8"/>
                </a:solidFill>
                <a:latin typeface="Segoe UI"/>
              </a:rPr>
              <a:t>Visit clients and
fix equipment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40496" y="4700016"/>
            <a:ext cx="365760" cy="18288"/>
          </a:xfrm>
          <a:prstGeom prst="rect">
            <a:avLst/>
          </a:prstGeom>
          <a:solidFill>
            <a:srgbClr val="3C5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015984" y="4636008"/>
            <a:ext cx="182880" cy="18288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45537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2A63B"/>
                </a:solidFill>
                <a:latin typeface="Segoe UI"/>
              </a:rPr>
              <a:t>4:30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873752"/>
            <a:ext cx="1965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D3DEE8"/>
                </a:solidFill>
                <a:latin typeface="Segoe UI"/>
              </a:rPr>
              <a:t>Update the tickets
and plan tomorrow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Induction Project  ·  Davis Fernández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5725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A63B"/>
                </a:solidFill>
                <a:latin typeface="Segoe UI"/>
              </a:rPr>
              <a:t>HOW TO GET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E273F"/>
                </a:solidFill>
                <a:latin typeface="Segoe UI"/>
              </a:rPr>
              <a:t>How to get to my workplace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822960" cy="50292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4114800" cy="1600200"/>
          </a:xfrm>
          <a:prstGeom prst="roundRect">
            <a:avLst>
              <a:gd name="adj" fmla="val 3500"/>
            </a:avLst>
          </a:prstGeom>
          <a:solidFill>
            <a:srgbClr val="0E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2A63B"/>
                </a:solidFill>
                <a:latin typeface="Segoe UI"/>
              </a:rPr>
              <a:t>MY MAIN CLIENT · DAVID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32304"/>
            <a:ext cx="3520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Restaurante PikTa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A63B"/>
                </a:solidFill>
                <a:latin typeface="Segoe UI"/>
              </a:rPr>
              <a:t>C. Arístides Romero, David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9D5E1"/>
                </a:solidFill>
                <a:latin typeface="Segoe UI"/>
              </a:rPr>
              <a:t>My base: La Riviera, Calle 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673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2A63B"/>
                </a:solidFill>
                <a:latin typeface="Segoe UI"/>
              </a:rPr>
              <a:t>BY CAR · STEP BY STEP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E273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4023360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0E273F"/>
                </a:solidFill>
                <a:latin typeface="Segoe UI"/>
              </a:rPr>
              <a:t>First, </a:t>
            </a:r>
            <a:r>
              <a:rPr sz="1250">
                <a:solidFill>
                  <a:srgbClr val="55697C"/>
                </a:solidFill>
                <a:latin typeface="Segoe UI"/>
              </a:rPr>
              <a:t>leave my base and go east on Calle 5.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274320" cy="27432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E273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4498848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0E273F"/>
                </a:solidFill>
                <a:latin typeface="Segoe UI"/>
              </a:rPr>
              <a:t>Then, </a:t>
            </a:r>
            <a:r>
              <a:rPr sz="1250">
                <a:solidFill>
                  <a:srgbClr val="55697C"/>
                </a:solidFill>
                <a:latin typeface="Segoe UI"/>
              </a:rPr>
              <a:t>turn left on Calle 4.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020055"/>
            <a:ext cx="274320" cy="27432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005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E273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4974336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0E273F"/>
                </a:solidFill>
                <a:latin typeface="Segoe UI"/>
              </a:rPr>
              <a:t>After that, </a:t>
            </a:r>
            <a:r>
              <a:rPr sz="1250">
                <a:solidFill>
                  <a:srgbClr val="55697C"/>
                </a:solidFill>
                <a:latin typeface="Segoe UI"/>
              </a:rPr>
              <a:t>go north to Calle Arístides Romero.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495543"/>
            <a:ext cx="274320" cy="274320"/>
          </a:xfrm>
          <a:prstGeom prst="ellipse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9554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E273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5449823"/>
            <a:ext cx="3794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250" b="1">
                <a:solidFill>
                  <a:srgbClr val="0E273F"/>
                </a:solidFill>
                <a:latin typeface="Segoe UI"/>
              </a:rPr>
              <a:t>Finally, </a:t>
            </a:r>
            <a:r>
              <a:rPr sz="1250">
                <a:solidFill>
                  <a:srgbClr val="55697C"/>
                </a:solidFill>
                <a:latin typeface="Segoe UI"/>
              </a:rPr>
              <a:t>turn right; PikTa is near Ozaga Market.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2011680"/>
            <a:ext cx="6291072" cy="4069080"/>
          </a:xfrm>
          <a:prstGeom prst="roundRect">
            <a:avLst>
              <a:gd name="adj" fmla="val 3000"/>
            </a:avLst>
          </a:prstGeom>
          <a:solidFill>
            <a:srgbClr val="EBF0E8"/>
          </a:solidFill>
          <a:ln w="9525">
            <a:solidFill>
              <a:srgbClr val="D8E2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46461" y="5022799"/>
            <a:ext cx="1887321" cy="569671"/>
          </a:xfrm>
          <a:prstGeom prst="rect">
            <a:avLst/>
          </a:prstGeom>
          <a:solidFill>
            <a:srgbClr val="C7D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5425" y="4249674"/>
            <a:ext cx="1006571" cy="528980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07961" y="5673852"/>
            <a:ext cx="1132392" cy="325526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72282" y="2418588"/>
            <a:ext cx="880750" cy="813816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4675" y="2255824"/>
            <a:ext cx="1006571" cy="610362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91997" y="2215134"/>
            <a:ext cx="1006571" cy="569671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79319" y="3232404"/>
            <a:ext cx="880750" cy="569671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30961" y="4534509"/>
            <a:ext cx="754928" cy="488289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95283" y="4534509"/>
            <a:ext cx="817839" cy="488289"/>
          </a:xfrm>
          <a:prstGeom prst="rect">
            <a:avLst/>
          </a:prstGeom>
          <a:solidFill>
            <a:srgbClr val="D2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 rot="21027238">
            <a:off x="5076471" y="3057753"/>
            <a:ext cx="6379409" cy="105156"/>
          </a:xfrm>
          <a:prstGeom prst="rect">
            <a:avLst/>
          </a:prstGeom>
          <a:solidFill>
            <a:srgbClr val="DC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1239357">
            <a:off x="5105685" y="5426964"/>
            <a:ext cx="5440230" cy="86868"/>
          </a:xfrm>
          <a:prstGeom prst="rect">
            <a:avLst/>
          </a:prstGeom>
          <a:solidFill>
            <a:srgbClr val="DC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16763397">
            <a:off x="7576861" y="4152313"/>
            <a:ext cx="2429238" cy="68580"/>
          </a:xfrm>
          <a:prstGeom prst="rect">
            <a:avLst/>
          </a:prstGeom>
          <a:solidFill>
            <a:srgbClr val="DC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001390" y="5384947"/>
            <a:ext cx="2591921" cy="276697"/>
          </a:xfrm>
          <a:prstGeom prst="line">
            <a:avLst/>
          </a:prstGeom>
          <a:ln w="50800">
            <a:solidFill>
              <a:srgbClr val="F2A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93311" y="2988259"/>
            <a:ext cx="396338" cy="2396688"/>
          </a:xfrm>
          <a:prstGeom prst="line">
            <a:avLst/>
          </a:prstGeom>
          <a:ln w="50800">
            <a:solidFill>
              <a:srgbClr val="F2A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989649" y="2819392"/>
            <a:ext cx="1006571" cy="168867"/>
          </a:xfrm>
          <a:prstGeom prst="line">
            <a:avLst/>
          </a:prstGeom>
          <a:ln w="50800">
            <a:solidFill>
              <a:srgbClr val="F2A6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932810" y="5593064"/>
            <a:ext cx="137160" cy="137160"/>
          </a:xfrm>
          <a:prstGeom prst="ellipse">
            <a:avLst/>
          </a:prstGeom>
          <a:solidFill>
            <a:srgbClr val="0E273F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83550" y="5775579"/>
            <a:ext cx="16356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E273F"/>
                </a:solidFill>
                <a:latin typeface="Segoe UI"/>
              </a:rPr>
              <a:t>MY 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7729" y="5165217"/>
            <a:ext cx="188732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3B632F"/>
                </a:solidFill>
                <a:latin typeface="Segoe UI"/>
              </a:rPr>
              <a:t>LA RIVERA</a:t>
            </a:r>
          </a:p>
        </p:txBody>
      </p:sp>
      <p:sp>
        <p:nvSpPr>
          <p:cNvPr id="43" name="Oval 42"/>
          <p:cNvSpPr/>
          <p:nvPr/>
        </p:nvSpPr>
        <p:spPr>
          <a:xfrm>
            <a:off x="9927640" y="2750812"/>
            <a:ext cx="137160" cy="137160"/>
          </a:xfrm>
          <a:prstGeom prst="ellipse">
            <a:avLst/>
          </a:prstGeom>
          <a:solidFill>
            <a:srgbClr val="F2A63B"/>
          </a:solidFill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7113" y="2939430"/>
            <a:ext cx="125821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8E5706"/>
                </a:solidFill>
                <a:latin typeface="Segoe UI"/>
              </a:rPr>
              <a:t>PIKTA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24390" y="3232404"/>
            <a:ext cx="534741" cy="305181"/>
          </a:xfrm>
          <a:prstGeom prst="rect">
            <a:avLst/>
          </a:prstGeom>
          <a:solidFill>
            <a:srgbClr val="CCD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0776" y="3578275"/>
            <a:ext cx="16356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2C4052"/>
                </a:solidFill>
                <a:latin typeface="Segoe UI"/>
              </a:rPr>
              <a:t>OZAGA MARKET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49747" y="3639312"/>
            <a:ext cx="25164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E7F"/>
                </a:solidFill>
                <a:latin typeface="Segoe UI"/>
              </a:rPr>
              <a:t>C. ARISTIDES ROMERO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8711" y="5144871"/>
            <a:ext cx="754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E7F"/>
                </a:solidFill>
                <a:latin typeface="Segoe UI"/>
              </a:rPr>
              <a:t>C.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7865" y="4249674"/>
            <a:ext cx="754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 i="0">
                <a:solidFill>
                  <a:srgbClr val="5C6E7F"/>
                </a:solidFill>
                <a:latin typeface="Segoe UI"/>
              </a:rPr>
              <a:t>C. 4</a:t>
            </a:r>
          </a:p>
        </p:txBody>
      </p:sp>
      <p:sp>
        <p:nvSpPr>
          <p:cNvPr id="50" name="Oval 49"/>
          <p:cNvSpPr/>
          <p:nvPr/>
        </p:nvSpPr>
        <p:spPr>
          <a:xfrm>
            <a:off x="10971336" y="547039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71336" y="5511546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0E273F"/>
                </a:solidFill>
                <a:latin typeface="Segoe UI"/>
              </a:rPr>
              <a:t>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6108192"/>
            <a:ext cx="6309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5697C"/>
                </a:solidFill>
                <a:latin typeface="Segoe UI"/>
              </a:rPr>
              <a:t>From my base in La Riviera to PikTa · 5 minutes by car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Induction Project  ·  Davis Fernández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5725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2A63B"/>
                </a:solidFill>
                <a:latin typeface="Segoe UI"/>
              </a:rPr>
              <a:t>AROUND THE OFFICE  ·  SAFETY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0E273F"/>
                </a:solidFill>
                <a:latin typeface="Segoe UI"/>
              </a:rPr>
              <a:t>Food, family and safety on the road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572768"/>
            <a:ext cx="822960" cy="50292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440680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84831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6F9E"/>
                </a:solidFill>
                <a:latin typeface="Segoe UI"/>
              </a:rPr>
              <a:t>PLACES TO 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40864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E273F"/>
                </a:solidFill>
                <a:latin typeface="Segoe UI"/>
              </a:rPr>
              <a:t>The bakery on the corner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1518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697C"/>
                </a:solidFill>
                <a:latin typeface="Segoe UI"/>
              </a:rPr>
              <a:t>Coffee, bread and fruit for about $2.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4436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E273F"/>
                </a:solidFill>
                <a:latin typeface="Segoe UI"/>
              </a:rPr>
              <a:t>The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1868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697C"/>
                </a:solidFill>
                <a:latin typeface="Segoe UI"/>
              </a:rPr>
              <a:t>Rice with chicken, beans and plantain for about $5.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021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3D5A74"/>
                </a:solidFill>
                <a:latin typeface="Segoe UI"/>
              </a:rPr>
              <a:t>There aren't any restaurants inside my building, but there are a lot of places near. Some are cheap and many people eat at the market; I don't have much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920240"/>
            <a:ext cx="5029200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084831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F6F9E"/>
                </a:solidFill>
                <a:latin typeface="Segoe UI"/>
              </a:rPr>
              <a:t>YESTERDAY AND TOMORROW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340864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2A63B"/>
                </a:solidFill>
                <a:latin typeface="Segoe UI"/>
              </a:rPr>
              <a:t>YESTERDAY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25877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B2B3A"/>
                </a:solidFill>
                <a:latin typeface="Segoe UI"/>
              </a:rPr>
              <a:t>I finished work and I went to dinner with my family.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92608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2A63B"/>
                </a:solidFill>
                <a:latin typeface="Segoe UI"/>
              </a:rPr>
              <a:t>TOMORROW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1729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B2B3A"/>
                </a:solidFill>
                <a:latin typeface="Segoe UI"/>
              </a:rPr>
              <a:t>I will have a long day: three clients in David, Bugaba and Boquete.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2A63B"/>
                </a:solidFill>
                <a:latin typeface="Segoe UI"/>
              </a:rPr>
              <a:t>SAFETY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407408"/>
            <a:ext cx="2331720" cy="16824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" y="4572000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6F9E"/>
                </a:solidFill>
                <a:latin typeface="Segoe UI"/>
              </a:rPr>
              <a:t>EMERGENCY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4809744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0E273F"/>
                </a:solidFill>
                <a:latin typeface="Segoe UI"/>
              </a:rPr>
              <a:t>911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" y="543153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Police, ambulance and fire department.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407408"/>
            <a:ext cx="3611880" cy="16824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457200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6F9E"/>
                </a:solidFill>
                <a:latin typeface="Segoe UI"/>
              </a:rPr>
              <a:t>FIRST-AID KIT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1296" y="480974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273F"/>
                </a:solidFill>
                <a:latin typeface="Segoe UI"/>
              </a:rPr>
              <a:t>In my car, in a red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1296" y="5157216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5697C"/>
                </a:solidFill>
                <a:latin typeface="Segoe UI"/>
              </a:rPr>
              <a:t>Ask me for the key. If someone is bleeding, apply pressure and call 911.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4407408"/>
            <a:ext cx="3410712" cy="16824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06055" y="4572000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F6F9E"/>
                </a:solidFill>
                <a:latin typeface="Segoe UI"/>
              </a:rPr>
              <a:t>THREE SIMPLE RULES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6055" y="4910328"/>
            <a:ext cx="64008" cy="201168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4846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B2B3A"/>
                </a:solidFill>
                <a:latin typeface="Segoe UI"/>
              </a:rPr>
              <a:t>Check the car before a long trip.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06055" y="5294376"/>
            <a:ext cx="64008" cy="201168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648" y="523036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B2B3A"/>
                </a:solidFill>
                <a:latin typeface="Segoe UI"/>
              </a:rPr>
              <a:t>Share your route with your family.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6055" y="5678424"/>
            <a:ext cx="64008" cy="201168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8" y="56144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B2B3A"/>
                </a:solidFill>
                <a:latin typeface="Segoe UI"/>
              </a:rPr>
              <a:t>Back up your data before every visit.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Induction Project  ·  Davis Fernández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5697C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